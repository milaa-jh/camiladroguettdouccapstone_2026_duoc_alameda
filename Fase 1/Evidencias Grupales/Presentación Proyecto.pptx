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1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8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2444204"/>
            <a:ext cx="80010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5400" b="1" i="0" u="none" noProof="0" dirty="0" err="1">
                <a:solidFill>
                  <a:srgbClr val="38BDF8"/>
                </a:solidFill>
                <a:latin typeface="Urbanist"/>
              </a:rPr>
              <a:t>EduVault</a:t>
            </a:r>
            <a:r>
              <a:rPr lang="es-CL" sz="5400" b="1" i="0" u="none" noProof="0" dirty="0">
                <a:solidFill>
                  <a:srgbClr val="F8FAFC"/>
                </a:solidFill>
                <a:latin typeface="Urbanist"/>
              </a:rPr>
              <a:t>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53854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s-CL" sz="1800" b="0" i="0" u="none" noProof="0" dirty="0">
                <a:solidFill>
                  <a:srgbClr val="94A3B8"/>
                </a:solidFill>
                <a:latin typeface="Inter"/>
              </a:rPr>
              <a:t>Tu espacio inteligente para organizar, aprender y evaluar tus conocimientos en un solo lugar.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4D1CBFE-87C9-2747-BF79-94404CF7F6A3}"/>
              </a:ext>
            </a:extLst>
          </p:cNvPr>
          <p:cNvSpPr txBox="1"/>
          <p:nvPr/>
        </p:nvSpPr>
        <p:spPr>
          <a:xfrm>
            <a:off x="2286000" y="4429450"/>
            <a:ext cx="7620000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s-CL" sz="1800" b="0" i="0" u="none" noProof="0" dirty="0">
                <a:solidFill>
                  <a:srgbClr val="94A3B8"/>
                </a:solidFill>
                <a:latin typeface="Inter"/>
              </a:rPr>
              <a:t>Camila Droguett 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66925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19275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La información de los estudiantes se encuentra dispersa entre </a:t>
            </a: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Google Drive, WhatsApp, correos y fotos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Existe una dificultad crítica para encontrar rápidamente apuntes o documentos necesarios para estudiar.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24325"/>
            <a:ext cx="489585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Las plataformas actuales carecen de herramientas integradas para organizar archivos y autoevaluar conocimientos.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76850"/>
            <a:ext cx="48958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El resultado es una pérdida constante de horas de estudio y un aumento del estrés académico.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76450"/>
            <a:ext cx="521017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El </a:t>
            </a:r>
            <a:r>
              <a:rPr lang="es-CL" sz="3600" b="1" i="0" u="none" noProof="0" dirty="0">
                <a:solidFill>
                  <a:srgbClr val="38BDF8"/>
                </a:solidFill>
                <a:latin typeface="Urbanist"/>
              </a:rPr>
              <a:t>Problema</a:t>
            </a:r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 Actual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838325"/>
            <a:ext cx="1143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90850"/>
            <a:ext cx="1143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43375"/>
            <a:ext cx="1143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295900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71700"/>
            <a:ext cx="3486150" cy="3600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171700"/>
            <a:ext cx="3486150" cy="3600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171700"/>
            <a:ext cx="3486150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514600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3324225"/>
            <a:ext cx="294036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Organiza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019550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Estructura tu material académico de forma modular mediante Asignaturas y Unidades de aprendizaje.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514600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5825" y="3324225"/>
            <a:ext cx="294036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Sintetiza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5825" y="4019550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Sube todo tipo de material (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PDFs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, enlaces, documentos) y crea resúmenes directamente en la plataforma.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514600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67725" y="3324225"/>
            <a:ext cx="294036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Evalúa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019550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Crea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tests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de autoevaluación, responde preguntas y obtén estadísticas instantáneas sobre tu progreso.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" y="2667000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8225" y="2667000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125" y="2667000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La </a:t>
            </a:r>
            <a:r>
              <a:rPr lang="es-CL" sz="3600" b="1" i="0" u="none" noProof="0" dirty="0">
                <a:solidFill>
                  <a:srgbClr val="38BDF8"/>
                </a:solidFill>
                <a:latin typeface="Urbanist"/>
              </a:rPr>
              <a:t>Solución</a:t>
            </a:r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 Integral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67" y="1869281"/>
            <a:ext cx="5229225" cy="404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947862"/>
            <a:ext cx="5229225" cy="404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338387"/>
            <a:ext cx="4670583" cy="361950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Antes: El Caos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2338387"/>
            <a:ext cx="4670583" cy="369332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Ahora: </a:t>
            </a:r>
            <a:r>
              <a:rPr lang="es-CL" sz="2400" b="1" i="0" u="none" noProof="0" dirty="0" err="1">
                <a:solidFill>
                  <a:srgbClr val="F8FAFC"/>
                </a:solidFill>
                <a:latin typeface="Urbanist"/>
              </a:rPr>
              <a:t>EduVault</a:t>
            </a:r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35743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4925" y="2890837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Archivos sin orden lógico.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3433762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Búsqueda tediosa en múltiples aplicaciones.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25" y="3976687"/>
            <a:ext cx="41148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Falta de métricas de avance o entendimiento.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163" y="4433380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Información mezclada entre semestres.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75" y="2357437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05650" y="2890837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1.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Usuario inicia sesión.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5650" y="3433762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2.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Accede a sus Asignaturas.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5650" y="3976687"/>
            <a:ext cx="4114800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3.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</a:t>
            </a:r>
            <a:r>
              <a:rPr lang="es-CL" sz="1500" dirty="0">
                <a:solidFill>
                  <a:srgbClr val="CBD5E1"/>
                </a:solidFill>
                <a:latin typeface="Inter"/>
              </a:rPr>
              <a:t>Crea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una Unidad específica.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650" y="4519612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4.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Consulta el Material de estudio.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5650" y="5062537"/>
            <a:ext cx="4114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5.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Resuelve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Tests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de autoevaluación.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Flujo de Estudio </a:t>
            </a:r>
            <a:r>
              <a:rPr lang="es-CL" sz="3600" b="1" i="0" u="none" noProof="0" dirty="0">
                <a:solidFill>
                  <a:srgbClr val="38BDF8"/>
                </a:solidFill>
                <a:latin typeface="Urbanist"/>
              </a:rPr>
              <a:t>Optimizado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2909887"/>
            <a:ext cx="1143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3452812"/>
            <a:ext cx="1143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3995737"/>
            <a:ext cx="1143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88" y="4452430"/>
            <a:ext cx="1143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2909887"/>
            <a:ext cx="1143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3452812"/>
            <a:ext cx="11430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3995737"/>
            <a:ext cx="11430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4538662"/>
            <a:ext cx="11430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5081587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19275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 err="1">
                <a:solidFill>
                  <a:srgbClr val="F8FAFC"/>
                </a:solidFill>
                <a:latin typeface="Inter Medium"/>
              </a:rPr>
              <a:t>Frontend</a:t>
            </a: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 Moderno: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Construido con Next.js,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React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,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TypeScript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y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Tailwind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CSS para una interfaz responsive y minimalista.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Arquitectura </a:t>
            </a:r>
            <a:r>
              <a:rPr lang="es-CL" sz="1500" b="0" i="0" u="none" noProof="0" dirty="0" err="1">
                <a:solidFill>
                  <a:srgbClr val="F8FAFC"/>
                </a:solidFill>
                <a:latin typeface="Inter Medium"/>
              </a:rPr>
              <a:t>Serverless</a:t>
            </a: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Diseño sin servidores tradicionales para facilitar el mantenimiento y reducir la complejidad.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24325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 err="1">
                <a:solidFill>
                  <a:srgbClr val="F8FAFC"/>
                </a:solidFill>
                <a:latin typeface="Inter Medium"/>
              </a:rPr>
              <a:t>Backend</a:t>
            </a: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 Integrado (</a:t>
            </a:r>
            <a:r>
              <a:rPr lang="es-CL" sz="1500" b="0" i="0" u="none" noProof="0" dirty="0" err="1">
                <a:solidFill>
                  <a:srgbClr val="F8FAFC"/>
                </a:solidFill>
                <a:latin typeface="Inter Medium"/>
              </a:rPr>
              <a:t>Supabase</a:t>
            </a: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):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Proporciona base de datos (PostgreSQL), Autenticación y Storage (Archivos) en un ecosistema unificado.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76850"/>
            <a:ext cx="48958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Despliegue Ágil: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Publicación gestionada a través de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Vercel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(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Frontend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) y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Supabase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(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Backend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Arquitectura y </a:t>
            </a:r>
            <a:r>
              <a:rPr lang="es-CL" sz="3600" b="1" i="0" u="none" noProof="0" dirty="0">
                <a:solidFill>
                  <a:srgbClr val="38BDF8"/>
                </a:solidFill>
                <a:latin typeface="Urbanist"/>
              </a:rPr>
              <a:t>Tecnología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38325"/>
            <a:ext cx="1143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90850"/>
            <a:ext cx="1143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143375"/>
            <a:ext cx="1143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295900"/>
            <a:ext cx="114300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A0ADB05-B92A-69ED-C777-1762E858E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284" y="1838325"/>
            <a:ext cx="5852498" cy="37833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71700"/>
            <a:ext cx="3486150" cy="3600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171700"/>
            <a:ext cx="3486150" cy="3600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171700"/>
            <a:ext cx="3486150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514600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3324225"/>
            <a:ext cx="294036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 err="1">
                <a:solidFill>
                  <a:srgbClr val="F8FAFC"/>
                </a:solidFill>
                <a:latin typeface="Urbanist"/>
              </a:rPr>
              <a:t>Dashboard</a:t>
            </a:r>
            <a:endParaRPr lang="es-CL" sz="2400" b="1" i="0" u="none" noProof="0" dirty="0">
              <a:solidFill>
                <a:srgbClr val="F8FAFC"/>
              </a:solidFill>
              <a:latin typeface="Urban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3925" y="4019550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Panel de control con métricas rápidas: total de asignaturas, materiales subidos y promedio de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tests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514600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5825" y="3324225"/>
            <a:ext cx="294036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Gestión Académica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5825" y="4019550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Sistema CRUD (Crear, Leer, Actualizar, Eliminar) jerárquico para Asignaturas, Unidades, Materiales y Resúmenes.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514600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67725" y="3324225"/>
            <a:ext cx="294036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Sistema de </a:t>
            </a:r>
            <a:r>
              <a:rPr lang="es-CL" sz="2400" b="1" i="0" u="none" noProof="0" dirty="0" err="1">
                <a:solidFill>
                  <a:srgbClr val="F8FAFC"/>
                </a:solidFill>
                <a:latin typeface="Urbanist"/>
              </a:rPr>
              <a:t>Tests</a:t>
            </a:r>
            <a:endParaRPr lang="es-CL" sz="2400" b="1" i="0" u="none" noProof="0" dirty="0">
              <a:solidFill>
                <a:srgbClr val="F8FAFC"/>
              </a:solidFill>
              <a:latin typeface="Urban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67725" y="4019550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Creación de cuestionarios por unidad, resolución interactiva de preguntas y cálculo automático de resultados.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" y="2667000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9175" y="2667000"/>
            <a:ext cx="3048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125" y="2667000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Módulos </a:t>
            </a:r>
            <a:r>
              <a:rPr lang="es-CL" sz="3600" b="1" i="0" u="none" noProof="0" dirty="0">
                <a:solidFill>
                  <a:srgbClr val="38BDF8"/>
                </a:solidFill>
                <a:latin typeface="Urbanist"/>
              </a:rPr>
              <a:t>Principales</a:t>
            </a:r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 (MVP)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66925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66875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Autenticación Segura: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Gestión de acceso mediante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Supabase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</a:t>
            </a:r>
            <a:r>
              <a:rPr lang="es-CL" sz="1500" b="0" i="0" u="none" noProof="0" dirty="0" err="1">
                <a:solidFill>
                  <a:srgbClr val="CBD5E1"/>
                </a:solidFill>
                <a:latin typeface="Inter"/>
              </a:rPr>
              <a:t>Authentication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, asegurando contraseñas cifradas y sesiones robustas.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19400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Row Level Security (RLS):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Políticas estrictas en la base de datos PostgreSQL que garantizan el aislamiento de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1925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Privacidad Absoluta: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Una regla cardinal del sistema es que cada estudiante únicamente puede consultar y modificar su propia información.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4450"/>
            <a:ext cx="4895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F8FAFC"/>
                </a:solidFill>
                <a:latin typeface="Inter Medium"/>
              </a:rPr>
              <a:t>Aislamiento de Entidades:</a:t>
            </a: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 Las reglas RLS se aplican a perfiles, asignaturas, unidades, materiales y evaluaciones.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76450"/>
            <a:ext cx="521017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Seguridad y </a:t>
            </a:r>
            <a:r>
              <a:rPr lang="es-CL" sz="3600" b="1" i="0" u="none" noProof="0" dirty="0">
                <a:solidFill>
                  <a:srgbClr val="38BDF8"/>
                </a:solidFill>
                <a:latin typeface="Urbanist"/>
              </a:rPr>
              <a:t>Privacidad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685925"/>
            <a:ext cx="1143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38450"/>
            <a:ext cx="1143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90975"/>
            <a:ext cx="1143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143500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952875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17605" y="4305300"/>
            <a:ext cx="266361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800" b="1" i="0" u="none" noProof="0" dirty="0" err="1">
                <a:solidFill>
                  <a:srgbClr val="38BDF8"/>
                </a:solidFill>
                <a:latin typeface="Urbanist"/>
              </a:rPr>
              <a:t>Sprints</a:t>
            </a:r>
            <a:r>
              <a:rPr lang="es-CL" sz="1800" b="1" i="0" u="none" noProof="0" dirty="0">
                <a:solidFill>
                  <a:srgbClr val="38BDF8"/>
                </a:solidFill>
                <a:latin typeface="Urbanist"/>
              </a:rPr>
              <a:t> 1 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724400"/>
            <a:ext cx="25367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s-CL" sz="1200" b="0" i="0" u="none" noProof="0" dirty="0">
                <a:solidFill>
                  <a:srgbClr val="CBD5E1"/>
                </a:solidFill>
                <a:latin typeface="Inter"/>
              </a:rPr>
              <a:t>Análisis de requisitos, diseño UX/UI, configuración Next.js/</a:t>
            </a:r>
            <a:r>
              <a:rPr lang="es-CL" sz="1200" b="0" i="0" u="none" noProof="0" dirty="0" err="1">
                <a:solidFill>
                  <a:srgbClr val="CBD5E1"/>
                </a:solidFill>
                <a:latin typeface="Inter"/>
              </a:rPr>
              <a:t>Supabase</a:t>
            </a:r>
            <a:r>
              <a:rPr lang="es-CL" sz="1200" b="0" i="0" u="none" noProof="0" dirty="0">
                <a:solidFill>
                  <a:srgbClr val="CBD5E1"/>
                </a:solidFill>
                <a:latin typeface="Inter"/>
              </a:rPr>
              <a:t> y módulo de Autenticación.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8614" y="2335708"/>
            <a:ext cx="266361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38BDF8"/>
                </a:solidFill>
                <a:latin typeface="Urbanist"/>
              </a:rPr>
              <a:t>Sprint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033" y="2754808"/>
            <a:ext cx="253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s-CL" sz="1200" b="0" i="0" u="none" noProof="0" dirty="0">
                <a:solidFill>
                  <a:srgbClr val="CBD5E1"/>
                </a:solidFill>
                <a:latin typeface="Inter"/>
              </a:rPr>
              <a:t>Desarrollo de Gestión Académica: Flujo de Asignaturas, Unidades y carga de Material.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622" y="4305300"/>
            <a:ext cx="266361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800" b="1" i="0" u="none" noProof="0" dirty="0" err="1">
                <a:solidFill>
                  <a:srgbClr val="38BDF8"/>
                </a:solidFill>
                <a:latin typeface="Urbanist"/>
              </a:rPr>
              <a:t>Sprints</a:t>
            </a:r>
            <a:r>
              <a:rPr lang="es-CL" sz="1800" b="1" i="0" u="none" noProof="0" dirty="0">
                <a:solidFill>
                  <a:srgbClr val="38BDF8"/>
                </a:solidFill>
                <a:latin typeface="Urbanist"/>
              </a:rPr>
              <a:t> 4 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042" y="4724400"/>
            <a:ext cx="253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s-CL" sz="1200" b="0" i="0" u="none" noProof="0" dirty="0">
                <a:solidFill>
                  <a:srgbClr val="CBD5E1"/>
                </a:solidFill>
                <a:latin typeface="Inter"/>
              </a:rPr>
              <a:t>Implementación del Sistema de Estudio: Creación de resúmenes, </a:t>
            </a:r>
            <a:r>
              <a:rPr lang="es-CL" sz="1200" b="0" i="0" u="none" noProof="0" dirty="0" err="1">
                <a:solidFill>
                  <a:srgbClr val="CBD5E1"/>
                </a:solidFill>
                <a:latin typeface="Inter"/>
              </a:rPr>
              <a:t>tests</a:t>
            </a:r>
            <a:r>
              <a:rPr lang="es-CL" sz="1200" b="0" i="0" u="none" noProof="0" dirty="0">
                <a:solidFill>
                  <a:srgbClr val="CBD5E1"/>
                </a:solidFill>
                <a:latin typeface="Inter"/>
              </a:rPr>
              <a:t>, realización y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0631" y="2335708"/>
            <a:ext cx="266361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800" b="1" i="0" u="none" noProof="0" dirty="0">
                <a:solidFill>
                  <a:srgbClr val="38BDF8"/>
                </a:solidFill>
                <a:latin typeface="Urbanist"/>
              </a:rPr>
              <a:t>Sprint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4050" y="2754808"/>
            <a:ext cx="253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s-CL" sz="1200" b="0" i="0" u="none" noProof="0" dirty="0">
                <a:solidFill>
                  <a:srgbClr val="CBD5E1"/>
                </a:solidFill>
                <a:latin typeface="Inter"/>
              </a:rPr>
              <a:t>Fase de QA (Pruebas), corrección de errores, validación responsive y despliegue final en </a:t>
            </a:r>
            <a:r>
              <a:rPr lang="es-CL" sz="1200" b="0" i="0" u="none" noProof="0" dirty="0" err="1">
                <a:solidFill>
                  <a:srgbClr val="CBD5E1"/>
                </a:solidFill>
                <a:latin typeface="Inter"/>
              </a:rPr>
              <a:t>Vercel</a:t>
            </a:r>
            <a:r>
              <a:rPr lang="es-CL" sz="1200" b="0" i="0" u="none" noProof="0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5112" y="38576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4566121" y="38576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7397129" y="38576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10228138" y="38576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Metodología </a:t>
            </a:r>
            <a:r>
              <a:rPr lang="es-CL" sz="3600" b="1" i="0" u="none" noProof="0" dirty="0" err="1">
                <a:solidFill>
                  <a:srgbClr val="38BDF8"/>
                </a:solidFill>
                <a:latin typeface="Urbanist"/>
              </a:rPr>
              <a:t>Scrumban</a:t>
            </a:r>
            <a:endParaRPr lang="es-CL" sz="3600" b="1" i="0" u="none" noProof="0" dirty="0">
              <a:solidFill>
                <a:srgbClr val="38BDF8"/>
              </a:solidFill>
              <a:latin typeface="Urbanis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90725"/>
            <a:ext cx="3486150" cy="396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990725"/>
            <a:ext cx="3486150" cy="396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990725"/>
            <a:ext cx="3486150" cy="396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333625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3143250"/>
            <a:ext cx="2940367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200525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Generación automática de resúmenes y creación inteligente de preguntas basadas en apuntes.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333625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5825" y="3143250"/>
            <a:ext cx="294036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Gamificación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5825" y="3838575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Implementación de un sistema de logros, ranking y recompensas para fomentar la constancia.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333625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67725" y="3143250"/>
            <a:ext cx="2940367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1" i="0" u="none" noProof="0" dirty="0">
                <a:solidFill>
                  <a:srgbClr val="F8FAFC"/>
                </a:solidFill>
                <a:latin typeface="Urbanist"/>
              </a:rPr>
              <a:t>Estudio Colaborativo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200525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CL" sz="1500" b="0" i="0" u="none" noProof="0" dirty="0">
                <a:solidFill>
                  <a:srgbClr val="CBD5E1"/>
                </a:solidFill>
                <a:latin typeface="Inter"/>
              </a:rPr>
              <a:t>Creación de grupos de estudio y la capacidad de compartir asignaturas o material entre compañeros.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987" y="2486025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7" y="2486025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6787" y="2486025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600" b="1" i="0" u="none" noProof="0" dirty="0">
                <a:solidFill>
                  <a:srgbClr val="F8FAFC"/>
                </a:solidFill>
                <a:latin typeface="Urbanist"/>
              </a:rPr>
              <a:t>Proyección </a:t>
            </a:r>
            <a:r>
              <a:rPr lang="es-CL" sz="3600" b="1" i="0" u="none" noProof="0" dirty="0">
                <a:solidFill>
                  <a:srgbClr val="38BDF8"/>
                </a:solidFill>
                <a:latin typeface="Urbanist"/>
              </a:rPr>
              <a:t>Futura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7635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3150273"/>
            <a:ext cx="11581447" cy="433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CL" sz="6000" noProof="0" dirty="0">
                <a:solidFill>
                  <a:srgbClr val="CBD5E1"/>
                </a:solidFill>
                <a:latin typeface="Inter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200525"/>
            <a:ext cx="110299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650" b="0" i="0" u="none" noProof="0" dirty="0">
                <a:solidFill>
                  <a:srgbClr val="818CF8"/>
                </a:solidFill>
                <a:latin typeface="Inter"/>
              </a:rPr>
              <a:t>Arquitectura </a:t>
            </a:r>
            <a:r>
              <a:rPr lang="es-CL" sz="1650" b="0" i="0" u="none" noProof="0" dirty="0" err="1">
                <a:solidFill>
                  <a:srgbClr val="818CF8"/>
                </a:solidFill>
                <a:latin typeface="Inter"/>
              </a:rPr>
              <a:t>Serverless</a:t>
            </a:r>
            <a:r>
              <a:rPr lang="es-CL" sz="1650" b="0" i="0" u="none" noProof="0" dirty="0">
                <a:solidFill>
                  <a:srgbClr val="818CF8"/>
                </a:solidFill>
                <a:latin typeface="Inter"/>
              </a:rPr>
              <a:t> • MVP • Next.js &amp; </a:t>
            </a:r>
            <a:r>
              <a:rPr lang="es-CL" sz="1650" b="0" i="0" u="none" noProof="0" dirty="0" err="1">
                <a:solidFill>
                  <a:srgbClr val="818CF8"/>
                </a:solidFill>
                <a:latin typeface="Inter"/>
              </a:rPr>
              <a:t>Supabase</a:t>
            </a:r>
            <a:endParaRPr lang="es-CL" sz="1650" b="0" i="0" u="none" noProof="0" dirty="0">
              <a:solidFill>
                <a:srgbClr val="818CF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590</Words>
  <Application>Microsoft Office PowerPoint</Application>
  <PresentationFormat>Panorámica</PresentationFormat>
  <Paragraphs>62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Inter</vt:lpstr>
      <vt:lpstr>Inter Medium</vt:lpstr>
      <vt:lpstr>Urbanist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Milaa</dc:creator>
  <cp:keywords/>
  <dc:description>generated using python-pptx</dc:description>
  <cp:lastModifiedBy>CAMILA . DROGUETT MANQUENIR</cp:lastModifiedBy>
  <cp:revision>5</cp:revision>
  <dcterms:created xsi:type="dcterms:W3CDTF">2013-01-27T09:14:16Z</dcterms:created>
  <dcterms:modified xsi:type="dcterms:W3CDTF">2026-08-31T17:20:58Z</dcterms:modified>
  <cp:category/>
</cp:coreProperties>
</file>